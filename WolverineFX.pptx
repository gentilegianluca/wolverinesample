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B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99" d="100"/>
          <a:sy n="199" d="100"/>
        </p:scale>
        <p:origin x="68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691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931A"/>
          </a:solidFill>
          <a:ln w="12700">
            <a:solidFill>
              <a:srgbClr val="E8931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7772400" y="91440"/>
            <a:ext cx="457200" cy="3108960"/>
          </a:xfrm>
          <a:prstGeom prst="line">
            <a:avLst/>
          </a:prstGeom>
          <a:noFill/>
          <a:ln w="152400">
            <a:solidFill>
              <a:srgbClr val="E8931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2"/>
          <p:cNvSpPr/>
          <p:nvPr/>
        </p:nvSpPr>
        <p:spPr>
          <a:xfrm>
            <a:off x="8229600" y="91440"/>
            <a:ext cx="457200" cy="3108960"/>
          </a:xfrm>
          <a:prstGeom prst="line">
            <a:avLst/>
          </a:prstGeom>
          <a:noFill/>
          <a:ln w="152400">
            <a:solidFill>
              <a:srgbClr val="E8931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8686800" y="91440"/>
            <a:ext cx="457200" cy="3108960"/>
          </a:xfrm>
          <a:prstGeom prst="line">
            <a:avLst/>
          </a:prstGeom>
          <a:noFill/>
          <a:ln w="152400">
            <a:solidFill>
              <a:srgbClr val="E8931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411480" y="2377440"/>
            <a:ext cx="1188720" cy="384048"/>
          </a:xfrm>
          <a:prstGeom prst="roundRect">
            <a:avLst>
              <a:gd name="adj" fmla="val 11905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411480" y="237744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● LIVE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283464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CQRS + Azure Service Bus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411480" y="35204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MediatR + MassTransit a un'unica soluzione open-source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1E35"/>
          </a:solidFill>
          <a:ln w="12700">
            <a:solidFill>
              <a:srgbClr val="1E1E3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41148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090B0"/>
                </a:solidFill>
              </a:rPr>
              <a:t>Gianluca Gentile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1480" y="4754880"/>
            <a:ext cx="832104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090B0"/>
                </a:solidFill>
              </a:rPr>
              <a:t>2026</a:t>
            </a:r>
            <a:endParaRPr lang="en-US" sz="1200" dirty="0"/>
          </a:p>
        </p:txBody>
      </p:sp>
      <p:pic>
        <p:nvPicPr>
          <p:cNvPr id="1034" name="Picture 10" descr="Wolverine Logo image">
            <a:extLst>
              <a:ext uri="{FF2B5EF4-FFF2-40B4-BE49-F238E27FC236}">
                <a16:creationId xmlns:a16="http://schemas.microsoft.com/office/drawing/2014/main" id="{A6A30186-3BEE-1DEC-4A7C-636BB96909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" y="7930"/>
            <a:ext cx="2270141" cy="2270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68AD9F4-DFE3-6365-6A3B-17A589D94DC9}"/>
              </a:ext>
            </a:extLst>
          </p:cNvPr>
          <p:cNvSpPr txBox="1"/>
          <p:nvPr/>
        </p:nvSpPr>
        <p:spPr>
          <a:xfrm>
            <a:off x="2681621" y="567681"/>
            <a:ext cx="49693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rgbClr val="F8BA00"/>
                </a:solidFill>
                <a:latin typeface="Comic Sans MS" panose="030F0702030302020204" pitchFamily="66" charset="0"/>
              </a:rPr>
              <a:t>Wolverine</a:t>
            </a:r>
            <a:endParaRPr lang="it-IT" sz="7200" b="1" dirty="0">
              <a:solidFill>
                <a:srgbClr val="F8BA00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E35"/>
          </a:solidFill>
          <a:ln w="12700">
            <a:solidFill>
              <a:srgbClr val="1E1E3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931A"/>
          </a:solidFill>
          <a:ln w="12700">
            <a:solidFill>
              <a:srgbClr val="E8931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Il Problema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914400"/>
            <a:ext cx="4114800" cy="3291840"/>
          </a:xfrm>
          <a:prstGeom prst="rect">
            <a:avLst/>
          </a:prstGeom>
          <a:solidFill>
            <a:srgbClr val="252540"/>
          </a:solidFill>
          <a:ln w="19050">
            <a:solidFill>
              <a:srgbClr val="E74C3C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4"/>
          <p:cNvSpPr/>
          <p:nvPr/>
        </p:nvSpPr>
        <p:spPr>
          <a:xfrm>
            <a:off x="347472" y="914400"/>
            <a:ext cx="4114800" cy="10972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78992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107899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MediatR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548640" y="1691640"/>
            <a:ext cx="3657600" cy="347472"/>
          </a:xfrm>
          <a:prstGeom prst="roundRect">
            <a:avLst>
              <a:gd name="adj" fmla="val 10526"/>
            </a:avLst>
          </a:prstGeom>
          <a:solidFill>
            <a:srgbClr val="E74C3C">
              <a:alpha val="20000"/>
            </a:srgbClr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548640" y="16916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</a:rPr>
              <a:t>v12+ → Licenza commerciale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2176272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Jimmy Bogard ha introdotto un modello a pagamento per uso commerciale. L'uso open-source resta gratuito ma con limitazioni.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754880" y="914400"/>
            <a:ext cx="4114800" cy="3291840"/>
          </a:xfrm>
          <a:prstGeom prst="rect">
            <a:avLst/>
          </a:prstGeom>
          <a:solidFill>
            <a:srgbClr val="252540"/>
          </a:solidFill>
          <a:ln w="19050">
            <a:solidFill>
              <a:srgbClr val="E67E22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4754880" y="914400"/>
            <a:ext cx="4114800" cy="1097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048" y="1078992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577840" y="107899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MassTransit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4956048" y="1691640"/>
            <a:ext cx="3657600" cy="347472"/>
          </a:xfrm>
          <a:prstGeom prst="roundRect">
            <a:avLst>
              <a:gd name="adj" fmla="val 10526"/>
            </a:avLst>
          </a:prstGeom>
          <a:solidFill>
            <a:srgbClr val="E67E22">
              <a:alpha val="20000"/>
            </a:srgbClr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3"/>
          <p:cNvSpPr/>
          <p:nvPr/>
        </p:nvSpPr>
        <p:spPr>
          <a:xfrm>
            <a:off x="4956048" y="16916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7E22"/>
                </a:solidFill>
              </a:rPr>
              <a:t>v8+ → Piani a pagamento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956048" y="2176272"/>
            <a:ext cx="36576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 Patterson ha introdotto tier commerciali (Standard, Premium). Il supporto enterprise e molte feature avanzate richiedono abbonamento.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347472" y="4370832"/>
            <a:ext cx="8449056" cy="566928"/>
          </a:xfrm>
          <a:prstGeom prst="rect">
            <a:avLst/>
          </a:prstGeom>
          <a:solidFill>
            <a:srgbClr val="E8931A">
              <a:alpha val="15000"/>
            </a:srgbClr>
          </a:solidFill>
          <a:ln w="12700">
            <a:solidFill>
              <a:srgbClr val="E8931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6"/>
          <p:cNvSpPr/>
          <p:nvPr/>
        </p:nvSpPr>
        <p:spPr>
          <a:xfrm>
            <a:off x="347472" y="4370832"/>
            <a:ext cx="84490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</a:rPr>
              <a:t>⚡  Serve un'alternativa: open-source, gratuita, potente, unificata.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E35"/>
          </a:solidFill>
          <a:ln w="12700">
            <a:solidFill>
              <a:srgbClr val="1E1E3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931A"/>
          </a:solidFill>
          <a:ln w="12700">
            <a:solidFill>
              <a:srgbClr val="E8931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Wolverine FX — Una sola libreria per tutto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804672"/>
            <a:ext cx="2194560" cy="65836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92608" y="960120"/>
            <a:ext cx="2743200" cy="3931920"/>
          </a:xfrm>
          <a:prstGeom prst="rect">
            <a:avLst/>
          </a:prstGeom>
          <a:solidFill>
            <a:srgbClr val="252540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4"/>
          <p:cNvSpPr/>
          <p:nvPr/>
        </p:nvSpPr>
        <p:spPr>
          <a:xfrm>
            <a:off x="292608" y="960120"/>
            <a:ext cx="2743200" cy="914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Shape 5"/>
          <p:cNvSpPr/>
          <p:nvPr/>
        </p:nvSpPr>
        <p:spPr>
          <a:xfrm>
            <a:off x="1252728" y="1078992"/>
            <a:ext cx="822960" cy="822960"/>
          </a:xfrm>
          <a:prstGeom prst="ellipse">
            <a:avLst/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1170432"/>
            <a:ext cx="585216" cy="5852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02336" y="201168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In-Process (CQRS)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75488" y="2560320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Sostituisce MediatR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/ Query / Notification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middleware tipizzato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reflection overhead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236976" y="960120"/>
            <a:ext cx="2743200" cy="3931920"/>
          </a:xfrm>
          <a:prstGeom prst="rect">
            <a:avLst/>
          </a:prstGeom>
          <a:solidFill>
            <a:srgbClr val="252540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Shape 9"/>
          <p:cNvSpPr/>
          <p:nvPr/>
        </p:nvSpPr>
        <p:spPr>
          <a:xfrm>
            <a:off x="3236976" y="960120"/>
            <a:ext cx="2743200" cy="914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Shape 10"/>
          <p:cNvSpPr/>
          <p:nvPr/>
        </p:nvSpPr>
        <p:spPr>
          <a:xfrm>
            <a:off x="4197096" y="1078992"/>
            <a:ext cx="822960" cy="822960"/>
          </a:xfrm>
          <a:prstGeom prst="ellipse">
            <a:avLst/>
          </a:prstGeom>
          <a:solidFill>
            <a:srgbClr val="1ABC9C">
              <a:alpha val="20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15968" y="1170432"/>
            <a:ext cx="585216" cy="58521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46704" y="201168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Messaging Distribuito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419856" y="2560320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Sostituisce MassTransit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Service Bus nativo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RabbitMQ, SQS, Kafka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/ Inbox pattern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181344" y="960120"/>
            <a:ext cx="2743200" cy="3931920"/>
          </a:xfrm>
          <a:prstGeom prst="rect">
            <a:avLst/>
          </a:prstGeom>
          <a:solidFill>
            <a:srgbClr val="252540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Shape 14"/>
          <p:cNvSpPr/>
          <p:nvPr/>
        </p:nvSpPr>
        <p:spPr>
          <a:xfrm>
            <a:off x="6181344" y="960120"/>
            <a:ext cx="2743200" cy="914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Shape 15"/>
          <p:cNvSpPr/>
          <p:nvPr/>
        </p:nvSpPr>
        <p:spPr>
          <a:xfrm>
            <a:off x="7141464" y="1078992"/>
            <a:ext cx="822960" cy="822960"/>
          </a:xfrm>
          <a:prstGeom prst="ellipse">
            <a:avLst/>
          </a:prstGeom>
          <a:solidFill>
            <a:srgbClr val="9B59B6">
              <a:alpha val="20000"/>
            </a:srgbClr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0336" y="1170432"/>
            <a:ext cx="585216" cy="58521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91072" y="2011680"/>
            <a:ext cx="25237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Pattern Avanzati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364224" y="2560320"/>
            <a:ext cx="24688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Saga / Process Manager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&amp; delayed msg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 / throttling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+ Marten Outbox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E35"/>
          </a:solidFill>
          <a:ln w="12700">
            <a:solidFill>
              <a:srgbClr val="1E1E3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931A"/>
          </a:solidFill>
          <a:ln w="12700">
            <a:solidFill>
              <a:srgbClr val="E8931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Confronto: Wolverine FX vs MediatR vs MassTransit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868680"/>
          <a:ext cx="8631936" cy="402336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11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3132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Caratteristica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3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808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MediatR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B06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MassTransit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2A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80FF80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Wolverine FX</a:t>
                      </a:r>
                      <a:endParaRPr lang="en-US" sz="13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8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Licenza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8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💰 Commerciale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B0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💰 Commerciale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0FF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MIT / Free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CQRS In-Process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0FF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Nativo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D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Limitato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0FF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Nativo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Messaggistica Distribuita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8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Non supportato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0FF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Nativo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0FF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Nativo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Service Bus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8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Assente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0FF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Supportato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0FF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Nativo + Outbox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Outbox / Inbox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8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Assente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0FF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EF 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0FF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EF Core + Marten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Saga / Process 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8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Assente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0FF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State Machine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0FF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Saga nativa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Middleware / Pipeline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0FF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Behaviors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0FF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Filters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0FF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Source gen (veloce)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(source gen)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D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Reflection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D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Reflection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0FF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Source Gen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Curva di apprendimento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0FF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Bassa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D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FD0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Media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931A"/>
          </a:solidFill>
          <a:ln w="12700">
            <a:solidFill>
              <a:srgbClr val="E8931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9144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0" b="1" dirty="0">
                <a:solidFill>
                  <a:srgbClr val="1E1E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411480" y="1371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Cosa vedremo nella live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" y="1005840"/>
            <a:ext cx="658368" cy="658368"/>
          </a:xfrm>
          <a:prstGeom prst="ellipse">
            <a:avLst/>
          </a:prstGeom>
          <a:solidFill>
            <a:srgbClr val="E8931A"/>
          </a:solidFill>
          <a:ln w="12700">
            <a:solidFill>
              <a:srgbClr val="E8931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347472" y="10058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13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6656" y="1664208"/>
            <a:ext cx="0" cy="301752"/>
          </a:xfrm>
          <a:prstGeom prst="line">
            <a:avLst/>
          </a:prstGeom>
          <a:noFill/>
          <a:ln w="25400">
            <a:solidFill>
              <a:srgbClr val="E8931A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143000" y="100584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Setup Wolverine in </a:t>
            </a:r>
            <a:r>
              <a:rPr lang="en-US" sz="16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una</a:t>
            </a: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Console App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335024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Configurazione, events, handlers, middleware pipeline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1965960"/>
            <a:ext cx="658368" cy="658368"/>
          </a:xfrm>
          <a:prstGeom prst="ellipse">
            <a:avLst/>
          </a:prstGeom>
          <a:solidFill>
            <a:srgbClr val="E8931A"/>
          </a:solidFill>
          <a:ln w="12700">
            <a:solidFill>
              <a:srgbClr val="E8931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347472" y="19659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13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76656" y="2624328"/>
            <a:ext cx="0" cy="301752"/>
          </a:xfrm>
          <a:prstGeom prst="line">
            <a:avLst/>
          </a:prstGeom>
          <a:noFill/>
          <a:ln w="25400">
            <a:solidFill>
              <a:srgbClr val="E8931A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1"/>
          <p:cNvSpPr/>
          <p:nvPr/>
        </p:nvSpPr>
        <p:spPr>
          <a:xfrm>
            <a:off x="1143000" y="196596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CQRS In-Process con Command &amp; Query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2295144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</a:t>
            </a:r>
            <a:r>
              <a:rPr lang="en-US" sz="1300" dirty="0" err="1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7472" y="2926080"/>
            <a:ext cx="658368" cy="658368"/>
          </a:xfrm>
          <a:prstGeom prst="ellipse">
            <a:avLst/>
          </a:prstGeom>
          <a:solidFill>
            <a:srgbClr val="E8931A"/>
          </a:solidFill>
          <a:ln w="12700">
            <a:solidFill>
              <a:srgbClr val="E8931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347472" y="292608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13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76656" y="3584448"/>
            <a:ext cx="0" cy="301752"/>
          </a:xfrm>
          <a:prstGeom prst="line">
            <a:avLst/>
          </a:prstGeom>
          <a:noFill/>
          <a:ln w="25400">
            <a:solidFill>
              <a:srgbClr val="E8931A"/>
            </a:solidFill>
            <a:prstDash val="dash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1143000" y="292608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Publish su Azure Service Bus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3255264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bus event, Queue and Topic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7472" y="3886200"/>
            <a:ext cx="658368" cy="658368"/>
          </a:xfrm>
          <a:prstGeom prst="ellipse">
            <a:avLst/>
          </a:prstGeom>
          <a:solidFill>
            <a:srgbClr val="E8931A"/>
          </a:solidFill>
          <a:ln w="12700">
            <a:solidFill>
              <a:srgbClr val="E8931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9"/>
          <p:cNvSpPr/>
          <p:nvPr/>
        </p:nvSpPr>
        <p:spPr>
          <a:xfrm>
            <a:off x="347472" y="38862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3132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43000" y="388620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Consumer su Service Bus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4215384"/>
            <a:ext cx="758952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0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931A"/>
          </a:solidFill>
          <a:ln w="12700">
            <a:solidFill>
              <a:srgbClr val="E8931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411480" y="4754880"/>
            <a:ext cx="832104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131320"/>
                </a:solidFill>
              </a:rPr>
              <a:t>https://github.com/gentilegianluca/WolverineSample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318</Words>
  <Application>Microsoft Office PowerPoint</Application>
  <PresentationFormat>On-screen Show (16:9)</PresentationFormat>
  <Paragraphs>91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Black</vt:lpstr>
      <vt:lpstr>Calibri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Wolverine FX – CQRS &amp; Azure Service Bus</dc:title>
  <dc:subject>PptxGenJS Presentation</dc:subject>
  <dc:creator>Gianluca – LabAnalysis</dc:creator>
  <cp:lastModifiedBy>Gianluca Gentile | LabAnalysis</cp:lastModifiedBy>
  <cp:revision>2</cp:revision>
  <dcterms:created xsi:type="dcterms:W3CDTF">2026-03-06T11:16:45Z</dcterms:created>
  <dcterms:modified xsi:type="dcterms:W3CDTF">2026-03-06T11:30:40Z</dcterms:modified>
</cp:coreProperties>
</file>